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01DDD5-4869-02B0-08DA-48FCD54B453B}" v="1022" dt="2026-05-29T08:43:05.6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lze upravit styl předlohy.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A43DF-04A3-4662-88CA-28FDED1CFC09}" type="datetimeFigureOut">
              <a:rPr lang="cs-CZ" smtClean="0"/>
              <a:t>29.05.2026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58ADA-DDE5-40A5-9BF1-B0BC81F4C7C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713096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Kliknutím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A43DF-04A3-4662-88CA-28FDED1CFC09}" type="datetimeFigureOut">
              <a:rPr lang="cs-CZ" smtClean="0"/>
              <a:t>29.05.2026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58ADA-DDE5-40A5-9BF1-B0BC81F4C7C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1655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čá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cs-CZ"/>
              <a:t>Kliknutím lze upravit styly předlohy textu.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A43DF-04A3-4662-88CA-28FDED1CFC09}" type="datetimeFigureOut">
              <a:rPr lang="cs-CZ" smtClean="0"/>
              <a:t>29.05.2026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58ADA-DDE5-40A5-9BF1-B0BC81F4C7C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57285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Kliknutím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Kliknutím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A43DF-04A3-4662-88CA-28FDED1CFC09}" type="datetimeFigureOut">
              <a:rPr lang="cs-CZ" smtClean="0"/>
              <a:t>29.05.2026</a:t>
            </a:fld>
            <a:endParaRPr lang="cs-CZ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58ADA-DDE5-40A5-9BF1-B0BC81F4C7C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4261061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Kliknutím lze upravit styly předlohy textu.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s-CZ"/>
              <a:t>Kliknutím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text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Kliknutím lze upravit styly předlohy textu.</a:t>
            </a:r>
          </a:p>
        </p:txBody>
      </p:sp>
      <p:sp>
        <p:nvSpPr>
          <p:cNvPr id="6" name="Zástupný symbol pro obsah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s-CZ"/>
              <a:t>Kliknutím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datum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A43DF-04A3-4662-88CA-28FDED1CFC09}" type="datetimeFigureOut">
              <a:rPr lang="cs-CZ" smtClean="0"/>
              <a:t>29.05.2026</a:t>
            </a:fld>
            <a:endParaRPr lang="cs-CZ"/>
          </a:p>
        </p:txBody>
      </p:sp>
      <p:sp>
        <p:nvSpPr>
          <p:cNvPr id="8" name="Zástupný symbol pro zápatí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58ADA-DDE5-40A5-9BF1-B0BC81F4C7C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975780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ouze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datum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A43DF-04A3-4662-88CA-28FDED1CFC09}" type="datetimeFigureOut">
              <a:rPr lang="cs-CZ" smtClean="0"/>
              <a:t>29.05.2026</a:t>
            </a:fld>
            <a:endParaRPr lang="cs-CZ"/>
          </a:p>
        </p:txBody>
      </p:sp>
      <p:sp>
        <p:nvSpPr>
          <p:cNvPr id="4" name="Zástupný symbol pro zápatí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58ADA-DDE5-40A5-9BF1-B0BC81F4C7C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149838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A43DF-04A3-4662-88CA-28FDED1CFC09}" type="datetimeFigureOut">
              <a:rPr lang="cs-CZ" smtClean="0"/>
              <a:t>29.05.2026</a:t>
            </a:fld>
            <a:endParaRPr lang="cs-CZ"/>
          </a:p>
        </p:txBody>
      </p:sp>
      <p:sp>
        <p:nvSpPr>
          <p:cNvPr id="3" name="Zástupný symbol pro zápatí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58ADA-DDE5-40A5-9BF1-B0BC81F4C7C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737944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Kliknutím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Kliknutím lze upravit styly předlohy textu.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A43DF-04A3-4662-88CA-28FDED1CFC09}" type="datetimeFigureOut">
              <a:rPr lang="cs-CZ" smtClean="0"/>
              <a:t>29.05.2026</a:t>
            </a:fld>
            <a:endParaRPr lang="cs-CZ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58ADA-DDE5-40A5-9BF1-B0BC81F4C7C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043075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obrázek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Kliknutím lze upravit styly předlohy textu.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A43DF-04A3-4662-88CA-28FDED1CFC09}" type="datetimeFigureOut">
              <a:rPr lang="cs-CZ" smtClean="0"/>
              <a:t>29.05.2026</a:t>
            </a:fld>
            <a:endParaRPr lang="cs-CZ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58ADA-DDE5-40A5-9BF1-B0BC81F4C7C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0885944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Kliknutím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A43DF-04A3-4662-88CA-28FDED1CFC09}" type="datetimeFigureOut">
              <a:rPr lang="cs-CZ" smtClean="0"/>
              <a:t>29.05.2026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58ADA-DDE5-40A5-9BF1-B0BC81F4C7C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707188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s-CZ"/>
              <a:t>Kliknutím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A43DF-04A3-4662-88CA-28FDED1CFC09}" type="datetimeFigureOut">
              <a:rPr lang="cs-CZ" smtClean="0"/>
              <a:t>29.05.2026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58ADA-DDE5-40A5-9BF1-B0BC81F4C7C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557874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nadpis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Kliknutím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3A43DF-04A3-4662-88CA-28FDED1CFC09}" type="datetimeFigureOut">
              <a:rPr lang="cs-CZ" smtClean="0"/>
              <a:t>29.05.2026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D58ADA-DDE5-40A5-9BF1-B0BC81F4C7C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64252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cSYnseML8uEZpnv1byRIijw4dpCdwnE0/view?usp=drivesdk" TargetMode="External"/><Relationship Id="rId2" Type="http://schemas.openxmlformats.org/officeDocument/2006/relationships/hyperlink" Target="https://homel.vsb.cz/~cho0178/MCU/MCUCompositeStructure.pdf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/>
            <a:r>
              <a:rPr lang="cs-CZ" sz="6600"/>
              <a:t>StephenSays</a:t>
            </a: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>
          <a:xfrm>
            <a:off x="838199" y="4983276"/>
            <a:ext cx="10512552" cy="1126680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cs-CZ"/>
              <a:t>Skill Issue (Štěpán Valenta, Michal Mlčák)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523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FF12EA8D-EFFC-037A-9CDE-F2ECE1DE24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cs-CZ" sz="5400"/>
              <a:t>Návrh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9894A97-20CD-C46D-ABB6-2AB718A49D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cs-CZ" sz="2200"/>
              <a:t>Pravidla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Když vám svítí oranžová dioda hra je ready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Stiskněte jakékoliv ze čtyř tlačítek pro zahájení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Když svítí dioda zeleně Stephen vám ukazuje jaké tlačítka mačkat na bargraphu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Poté když svítí dioda modře musíte zopakovat pořadí tlačítek podle Stephena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Po každém kole se vám přičte 1 bod a zahájí se další kolo které je delší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Když se netrefíte rozbliká se dioda červěně a zobrazí se v binárce skóre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Když vyhrajete rozbliká se dioda bíle a vaše skóre se zobrazí v binárce</a:t>
            </a:r>
          </a:p>
        </p:txBody>
      </p:sp>
    </p:spTree>
    <p:extLst>
      <p:ext uri="{BB962C8B-B14F-4D97-AF65-F5344CB8AC3E}">
        <p14:creationId xmlns:p14="http://schemas.microsoft.com/office/powerpoint/2010/main" val="26465725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59100ADC-F5F9-4C96-60D5-CE0A60D42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cs-CZ" sz="5400"/>
              <a:t>Návrh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712D0C1C-A5E4-D918-C919-E66CB3602D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cs-CZ" sz="2200"/>
              <a:t>Přístup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Nejdřív zprovoznit každý komponent samostatně a otestovat že ho umíme ovládat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Základní funkcionalita (stisknutím tlačítka bliknou dvě příslušné ledky)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Vytvořit si randomizér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Začít pracovat na logice a fungování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Testovat hru a hledat chyby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Poté předělat kód do jednotlivých knihoven</a:t>
            </a:r>
          </a:p>
        </p:txBody>
      </p:sp>
    </p:spTree>
    <p:extLst>
      <p:ext uri="{BB962C8B-B14F-4D97-AF65-F5344CB8AC3E}">
        <p14:creationId xmlns:p14="http://schemas.microsoft.com/office/powerpoint/2010/main" val="608305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E354B390-2E53-9909-E06F-C1DF384C2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cs-CZ" sz="5400"/>
              <a:t>Hardware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21248487-F0E0-402E-8D6F-FA3027A347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cs-CZ" sz="2200"/>
              <a:t>Schéma: </a:t>
            </a:r>
            <a:r>
              <a:rPr lang="cs-CZ" sz="2200" dirty="0">
                <a:hlinkClick r:id="rId2"/>
              </a:rPr>
              <a:t>Odkaz</a:t>
            </a:r>
          </a:p>
          <a:p>
            <a:r>
              <a:rPr lang="cs-CZ" sz="2200">
                <a:ea typeface="+mn-lt"/>
                <a:cs typeface="+mn-lt"/>
              </a:rPr>
              <a:t>Použité periferie: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>
                <a:ea typeface="+mn-lt"/>
                <a:cs typeface="+mn-lt"/>
              </a:rPr>
              <a:t>RGB dioda - vnější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>
                <a:ea typeface="+mn-lt"/>
                <a:cs typeface="+mn-lt"/>
              </a:rPr>
              <a:t>LEDbargraph - vnější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>
                <a:ea typeface="+mn-lt"/>
                <a:cs typeface="+mn-lt"/>
              </a:rPr>
              <a:t>Buttony - vnější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>
                <a:ea typeface="+mn-lt"/>
                <a:cs typeface="+mn-lt"/>
              </a:rPr>
              <a:t>SysTick - vnitřní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>
                <a:ea typeface="+mn-lt"/>
                <a:cs typeface="+mn-lt"/>
              </a:rPr>
              <a:t>GPIO - vnitřní</a:t>
            </a:r>
            <a:endParaRPr lang="cs-CZ" sz="2200" dirty="0">
              <a:ea typeface="+mn-lt"/>
              <a:cs typeface="+mn-lt"/>
            </a:endParaRPr>
          </a:p>
          <a:p>
            <a:r>
              <a:rPr lang="cs-CZ" sz="2600">
                <a:ea typeface="+mn-lt"/>
                <a:cs typeface="+mn-lt"/>
              </a:rPr>
              <a:t>Video: </a:t>
            </a:r>
            <a:r>
              <a:rPr lang="cs-CZ" sz="2600" dirty="0">
                <a:ea typeface="+mn-lt"/>
                <a:cs typeface="+mn-lt"/>
                <a:hlinkClick r:id="rId3"/>
              </a:rPr>
              <a:t>Odkaz</a:t>
            </a:r>
            <a:r>
              <a:rPr lang="cs-CZ" sz="2600" dirty="0">
                <a:ea typeface="+mn-lt"/>
                <a:cs typeface="+mn-lt"/>
              </a:rPr>
              <a:t> </a:t>
            </a:r>
          </a:p>
          <a:p>
            <a:endParaRPr lang="cs-CZ" sz="2600" dirty="0">
              <a:ea typeface="+mn-lt"/>
              <a:cs typeface="+mn-lt"/>
            </a:endParaRPr>
          </a:p>
          <a:p>
            <a:endParaRPr lang="cs-CZ" sz="220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98074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A3661A26-BDE8-28B3-3AE9-CB7C48FB5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cs-CZ" sz="5400"/>
              <a:t>Software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6F1C3D6F-CE67-5D7C-6A5D-074C377DE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cs-CZ" sz="2200"/>
              <a:t>Knihovny: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MyArduino - základní funkce z arduina (pinMode, digitalRead, digitalWrite, delay)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MyRGB – knihovna pro ovládání RGB složky diody odděleně pomocí ON/OFF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MyBargraph – knihovna pro bargraph, zobrazování diod, zobrazení skóre v binárce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MySysTick – knihovna používáná na vnitřní odčitač SysTick</a:t>
            </a:r>
            <a:endParaRPr lang="cs-CZ" sz="2200" dirty="0"/>
          </a:p>
        </p:txBody>
      </p:sp>
    </p:spTree>
    <p:extLst>
      <p:ext uri="{BB962C8B-B14F-4D97-AF65-F5344CB8AC3E}">
        <p14:creationId xmlns:p14="http://schemas.microsoft.com/office/powerpoint/2010/main" val="17814744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D75A5B51-0925-4835-8511-A0DD17EAA9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4F34D948-B6E7-EE45-5B97-34B7EF878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65125"/>
            <a:ext cx="5295015" cy="2063808"/>
          </a:xfrm>
        </p:spPr>
        <p:txBody>
          <a:bodyPr anchor="b">
            <a:normAutofit/>
          </a:bodyPr>
          <a:lstStyle/>
          <a:p>
            <a:r>
              <a:rPr lang="cs-CZ" sz="5400"/>
              <a:t>Experience</a:t>
            </a:r>
          </a:p>
        </p:txBody>
      </p:sp>
      <p:sp>
        <p:nvSpPr>
          <p:cNvPr id="26" name="Sketch line">
            <a:extLst>
              <a:ext uri="{FF2B5EF4-FFF2-40B4-BE49-F238E27FC236}">
                <a16:creationId xmlns:a16="http://schemas.microsoft.com/office/drawing/2014/main" id="{5CDFD20D-8E4F-4E3A-AF87-93F23E0D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2650181"/>
            <a:ext cx="4343400" cy="18288"/>
          </a:xfrm>
          <a:custGeom>
            <a:avLst/>
            <a:gdLst>
              <a:gd name="csX0" fmla="*/ 0 w 4343400"/>
              <a:gd name="csY0" fmla="*/ 0 h 18288"/>
              <a:gd name="csX1" fmla="*/ 577052 w 4343400"/>
              <a:gd name="csY1" fmla="*/ 0 h 18288"/>
              <a:gd name="csX2" fmla="*/ 1067235 w 4343400"/>
              <a:gd name="csY2" fmla="*/ 0 h 18288"/>
              <a:gd name="csX3" fmla="*/ 1600853 w 4343400"/>
              <a:gd name="csY3" fmla="*/ 0 h 18288"/>
              <a:gd name="csX4" fmla="*/ 2264773 w 4343400"/>
              <a:gd name="csY4" fmla="*/ 0 h 18288"/>
              <a:gd name="csX5" fmla="*/ 2841825 w 4343400"/>
              <a:gd name="csY5" fmla="*/ 0 h 18288"/>
              <a:gd name="csX6" fmla="*/ 3375442 w 4343400"/>
              <a:gd name="csY6" fmla="*/ 0 h 18288"/>
              <a:gd name="csX7" fmla="*/ 4343400 w 4343400"/>
              <a:gd name="csY7" fmla="*/ 0 h 18288"/>
              <a:gd name="csX8" fmla="*/ 4343400 w 4343400"/>
              <a:gd name="csY8" fmla="*/ 18288 h 18288"/>
              <a:gd name="csX9" fmla="*/ 3722914 w 4343400"/>
              <a:gd name="csY9" fmla="*/ 18288 h 18288"/>
              <a:gd name="csX10" fmla="*/ 3189297 w 4343400"/>
              <a:gd name="csY10" fmla="*/ 18288 h 18288"/>
              <a:gd name="csX11" fmla="*/ 2481943 w 4343400"/>
              <a:gd name="csY11" fmla="*/ 18288 h 18288"/>
              <a:gd name="csX12" fmla="*/ 1904891 w 4343400"/>
              <a:gd name="csY12" fmla="*/ 18288 h 18288"/>
              <a:gd name="csX13" fmla="*/ 1414707 w 4343400"/>
              <a:gd name="csY13" fmla="*/ 18288 h 18288"/>
              <a:gd name="csX14" fmla="*/ 750788 w 4343400"/>
              <a:gd name="csY14" fmla="*/ 18288 h 18288"/>
              <a:gd name="csX15" fmla="*/ 0 w 4343400"/>
              <a:gd name="csY15" fmla="*/ 18288 h 18288"/>
              <a:gd name="csX16" fmla="*/ 0 w 434340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343400" h="18288" fill="none" extrusionOk="0">
                <a:moveTo>
                  <a:pt x="0" y="0"/>
                </a:moveTo>
                <a:cubicBezTo>
                  <a:pt x="233209" y="-19550"/>
                  <a:pt x="330816" y="19068"/>
                  <a:pt x="577052" y="0"/>
                </a:cubicBezTo>
                <a:cubicBezTo>
                  <a:pt x="823288" y="-19068"/>
                  <a:pt x="875077" y="10360"/>
                  <a:pt x="1067235" y="0"/>
                </a:cubicBezTo>
                <a:cubicBezTo>
                  <a:pt x="1259393" y="-10360"/>
                  <a:pt x="1410699" y="2939"/>
                  <a:pt x="1600853" y="0"/>
                </a:cubicBezTo>
                <a:cubicBezTo>
                  <a:pt x="1791007" y="-2939"/>
                  <a:pt x="2101644" y="-26225"/>
                  <a:pt x="2264773" y="0"/>
                </a:cubicBezTo>
                <a:cubicBezTo>
                  <a:pt x="2427902" y="26225"/>
                  <a:pt x="2690426" y="-27726"/>
                  <a:pt x="2841825" y="0"/>
                </a:cubicBezTo>
                <a:cubicBezTo>
                  <a:pt x="2993224" y="27726"/>
                  <a:pt x="3172320" y="-18569"/>
                  <a:pt x="3375442" y="0"/>
                </a:cubicBezTo>
                <a:cubicBezTo>
                  <a:pt x="3578564" y="18569"/>
                  <a:pt x="4003119" y="21909"/>
                  <a:pt x="4343400" y="0"/>
                </a:cubicBezTo>
                <a:cubicBezTo>
                  <a:pt x="4343798" y="7429"/>
                  <a:pt x="4343380" y="10822"/>
                  <a:pt x="4343400" y="18288"/>
                </a:cubicBezTo>
                <a:cubicBezTo>
                  <a:pt x="4109047" y="14709"/>
                  <a:pt x="3996986" y="7919"/>
                  <a:pt x="3722914" y="18288"/>
                </a:cubicBezTo>
                <a:cubicBezTo>
                  <a:pt x="3448842" y="28657"/>
                  <a:pt x="3340973" y="29252"/>
                  <a:pt x="3189297" y="18288"/>
                </a:cubicBezTo>
                <a:cubicBezTo>
                  <a:pt x="3037621" y="7324"/>
                  <a:pt x="2636891" y="-9539"/>
                  <a:pt x="2481943" y="18288"/>
                </a:cubicBezTo>
                <a:cubicBezTo>
                  <a:pt x="2326995" y="46115"/>
                  <a:pt x="2131632" y="740"/>
                  <a:pt x="1904891" y="18288"/>
                </a:cubicBezTo>
                <a:cubicBezTo>
                  <a:pt x="1678150" y="35836"/>
                  <a:pt x="1575362" y="-3381"/>
                  <a:pt x="1414707" y="18288"/>
                </a:cubicBezTo>
                <a:cubicBezTo>
                  <a:pt x="1254052" y="39957"/>
                  <a:pt x="1051093" y="-335"/>
                  <a:pt x="750788" y="18288"/>
                </a:cubicBezTo>
                <a:cubicBezTo>
                  <a:pt x="450483" y="36911"/>
                  <a:pt x="293781" y="22900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343400" h="18288" stroke="0" extrusionOk="0">
                <a:moveTo>
                  <a:pt x="0" y="0"/>
                </a:moveTo>
                <a:cubicBezTo>
                  <a:pt x="212719" y="-28531"/>
                  <a:pt x="340561" y="-1164"/>
                  <a:pt x="577052" y="0"/>
                </a:cubicBezTo>
                <a:cubicBezTo>
                  <a:pt x="813543" y="1164"/>
                  <a:pt x="866967" y="-9376"/>
                  <a:pt x="1067235" y="0"/>
                </a:cubicBezTo>
                <a:cubicBezTo>
                  <a:pt x="1267503" y="9376"/>
                  <a:pt x="1485778" y="-20470"/>
                  <a:pt x="1774589" y="0"/>
                </a:cubicBezTo>
                <a:cubicBezTo>
                  <a:pt x="2063400" y="20470"/>
                  <a:pt x="2090152" y="-14502"/>
                  <a:pt x="2351641" y="0"/>
                </a:cubicBezTo>
                <a:cubicBezTo>
                  <a:pt x="2613130" y="14502"/>
                  <a:pt x="2802864" y="19125"/>
                  <a:pt x="2928693" y="0"/>
                </a:cubicBezTo>
                <a:cubicBezTo>
                  <a:pt x="3054522" y="-19125"/>
                  <a:pt x="3482611" y="-2038"/>
                  <a:pt x="3636046" y="0"/>
                </a:cubicBezTo>
                <a:cubicBezTo>
                  <a:pt x="3789481" y="2038"/>
                  <a:pt x="4012363" y="973"/>
                  <a:pt x="4343400" y="0"/>
                </a:cubicBezTo>
                <a:cubicBezTo>
                  <a:pt x="4342514" y="5429"/>
                  <a:pt x="4344221" y="14046"/>
                  <a:pt x="4343400" y="18288"/>
                </a:cubicBezTo>
                <a:cubicBezTo>
                  <a:pt x="4078870" y="-6138"/>
                  <a:pt x="4015967" y="29658"/>
                  <a:pt x="3809782" y="18288"/>
                </a:cubicBezTo>
                <a:cubicBezTo>
                  <a:pt x="3603597" y="6918"/>
                  <a:pt x="3495552" y="24439"/>
                  <a:pt x="3189297" y="18288"/>
                </a:cubicBezTo>
                <a:cubicBezTo>
                  <a:pt x="2883042" y="12137"/>
                  <a:pt x="2850610" y="32583"/>
                  <a:pt x="2568811" y="18288"/>
                </a:cubicBezTo>
                <a:cubicBezTo>
                  <a:pt x="2287012" y="3993"/>
                  <a:pt x="2279820" y="23580"/>
                  <a:pt x="1991759" y="18288"/>
                </a:cubicBezTo>
                <a:cubicBezTo>
                  <a:pt x="1703698" y="12996"/>
                  <a:pt x="1616455" y="23157"/>
                  <a:pt x="1284405" y="18288"/>
                </a:cubicBezTo>
                <a:cubicBezTo>
                  <a:pt x="952355" y="13419"/>
                  <a:pt x="783530" y="16053"/>
                  <a:pt x="577052" y="18288"/>
                </a:cubicBezTo>
                <a:cubicBezTo>
                  <a:pt x="370574" y="20523"/>
                  <a:pt x="173929" y="519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6FE569F0-B069-36D7-A957-92CBC16124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908005"/>
            <a:ext cx="5295015" cy="326895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cs-CZ" sz="2200"/>
              <a:t>Problémy: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Při inicializaci SysTick jsme nastavili že když dosáhne 0 tak spustí interrupt</a:t>
            </a:r>
          </a:p>
          <a:p>
            <a:r>
              <a:rPr lang="cs-CZ" sz="2200"/>
              <a:t>Zajímavosti: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Při práci na kódu se proti nám vzbouřilo inline AI výsměchem, nebo youtube odkazem na gangnam style</a:t>
            </a:r>
          </a:p>
        </p:txBody>
      </p:sp>
      <p:pic>
        <p:nvPicPr>
          <p:cNvPr id="6" name="Obrázek 5" descr="Obsah obrázku text, elektronika, počítač, displej&#10;&#10;Obsah generovaný pomocí AI může být nesprávný.">
            <a:extLst>
              <a:ext uri="{FF2B5EF4-FFF2-40B4-BE49-F238E27FC236}">
                <a16:creationId xmlns:a16="http://schemas.microsoft.com/office/drawing/2014/main" id="{C4BB10CF-27FD-8DA5-32BE-AED61D47C6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097" t="28134" r="19835" b="42992"/>
          <a:stretch>
            <a:fillRect/>
          </a:stretch>
        </p:blipFill>
        <p:spPr>
          <a:xfrm>
            <a:off x="6290564" y="379098"/>
            <a:ext cx="2823356" cy="1504612"/>
          </a:xfrm>
          <a:prstGeom prst="rect">
            <a:avLst/>
          </a:prstGeom>
        </p:spPr>
      </p:pic>
      <p:pic>
        <p:nvPicPr>
          <p:cNvPr id="5" name="Obrázek 4" descr="Obsah obrázku text, elektronika, snímek obrazovky, počítač&#10;&#10;Obsah generovaný pomocí AI může být nesprávný.">
            <a:extLst>
              <a:ext uri="{FF2B5EF4-FFF2-40B4-BE49-F238E27FC236}">
                <a16:creationId xmlns:a16="http://schemas.microsoft.com/office/drawing/2014/main" id="{28A797E5-B001-E723-3F41-93015B1279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038" t="33913" r="5825" b="24529"/>
          <a:stretch>
            <a:fillRect/>
          </a:stretch>
        </p:blipFill>
        <p:spPr>
          <a:xfrm>
            <a:off x="7295981" y="1896933"/>
            <a:ext cx="4538271" cy="1497425"/>
          </a:xfrm>
          <a:prstGeom prst="rect">
            <a:avLst/>
          </a:prstGeom>
        </p:spPr>
      </p:pic>
      <p:pic>
        <p:nvPicPr>
          <p:cNvPr id="4" name="Obrázek 3" descr="Obsah obrázku motocykl, Akční adventura, Akční film, Digitální kompozice&#10;&#10;Obsah generovaný pomocí AI může být nesprávný.">
            <a:extLst>
              <a:ext uri="{FF2B5EF4-FFF2-40B4-BE49-F238E27FC236}">
                <a16:creationId xmlns:a16="http://schemas.microsoft.com/office/drawing/2014/main" id="{AC15AE1D-EF70-430C-5236-74C870E00D1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0566" r="-1" b="-1"/>
          <a:stretch>
            <a:fillRect/>
          </a:stretch>
        </p:blipFill>
        <p:spPr>
          <a:xfrm>
            <a:off x="6396397" y="3435398"/>
            <a:ext cx="5431536" cy="2732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4504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19A1DCC0-3A31-E978-281D-8F2EDC04F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cs-CZ" sz="5400"/>
              <a:t>Závěř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68A39631-B350-C4F9-F655-01EB8345D3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cs-CZ" sz="2200"/>
              <a:t>Co udělat jinak příště: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Ideálně rozdělit si kód do knihoven někdy ze začátku a né až na konci</a:t>
            </a:r>
          </a:p>
          <a:p>
            <a:r>
              <a:rPr lang="cs-CZ" sz="2200"/>
              <a:t>Líbilo: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Šlo to relativně bez problémů (když ignorujeme vzpouru AI)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Bylo nám dobře vysvětleno jak funguje takovéto programování mikrokontroleru (Jak fungují interrupty, časovače, atd...)</a:t>
            </a:r>
          </a:p>
          <a:p>
            <a:r>
              <a:rPr lang="cs-CZ" sz="2200"/>
              <a:t>Nelíbilo: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Vzpoura AI</a:t>
            </a:r>
          </a:p>
          <a:p>
            <a:r>
              <a:rPr lang="cs-CZ" sz="2200"/>
              <a:t>Do jaké míry jsme projekt dokončily?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Tak 80% hra funguje komplet, ale naše knihovna MyArduino by šla dokončit, chybí nám tam funkcionality, které jsme zrovna pro tento projekt nepotřebovali</a:t>
            </a:r>
          </a:p>
          <a:p>
            <a:pPr lvl="1">
              <a:buFont typeface="Courier New" panose="020B0604020202020204" pitchFamily="34" charset="0"/>
              <a:buChar char="o"/>
            </a:pPr>
            <a:endParaRPr lang="cs-CZ" sz="2200"/>
          </a:p>
        </p:txBody>
      </p:sp>
    </p:spTree>
    <p:extLst>
      <p:ext uri="{BB962C8B-B14F-4D97-AF65-F5344CB8AC3E}">
        <p14:creationId xmlns:p14="http://schemas.microsoft.com/office/powerpoint/2010/main" val="483254003"/>
      </p:ext>
    </p:extLst>
  </p:cSld>
  <p:clrMapOvr>
    <a:masterClrMapping/>
  </p:clrMapOvr>
</p:sld>
</file>

<file path=ppt/theme/theme1.xml><?xml version="1.0" encoding="utf-8"?>
<a:theme xmlns:a="http://schemas.openxmlformats.org/drawingml/2006/main" name="Motiv systému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Kancelář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Širokoúhlá obrazovka</PresentationFormat>
  <Paragraphs>0</Paragraphs>
  <Slides>7</Slides>
  <Notes>0</Notes>
  <HiddenSlides>0</HiddenSlides>
  <MMClips>0</MMClips>
  <ScaleCrop>false</ScaleCrop>
  <HeadingPairs>
    <vt:vector size="4" baseType="variant">
      <vt:variant>
        <vt:lpstr>Motiv</vt:lpstr>
      </vt:variant>
      <vt:variant>
        <vt:i4>1</vt:i4>
      </vt:variant>
      <vt:variant>
        <vt:lpstr>Nadpisy snímků</vt:lpstr>
      </vt:variant>
      <vt:variant>
        <vt:i4>7</vt:i4>
      </vt:variant>
    </vt:vector>
  </HeadingPairs>
  <TitlesOfParts>
    <vt:vector size="8" baseType="lpstr">
      <vt:lpstr>Motiv systému Office</vt:lpstr>
      <vt:lpstr>StephenSays</vt:lpstr>
      <vt:lpstr>Návrh</vt:lpstr>
      <vt:lpstr>Návrh</vt:lpstr>
      <vt:lpstr>Hardware</vt:lpstr>
      <vt:lpstr>Software</vt:lpstr>
      <vt:lpstr>Experience</vt:lpstr>
      <vt:lpstr>Závěř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207</cp:revision>
  <dcterms:created xsi:type="dcterms:W3CDTF">2026-05-29T06:40:57Z</dcterms:created>
  <dcterms:modified xsi:type="dcterms:W3CDTF">2026-05-29T08:43:22Z</dcterms:modified>
</cp:coreProperties>
</file>